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E3A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486400" cy="5486400"/>
          </a:xfrm>
          <a:prstGeom prst="ellipse">
            <a:avLst/>
          </a:prstGeom>
          <a:solidFill>
            <a:srgbClr val="4D6BFE">
              <a:alpha val="22000"/>
            </a:srgbClr>
          </a:solidFill>
          <a:ln/>
        </p:spPr>
      </p:sp>
      <p:pic>
        <p:nvPicPr>
          <p:cNvPr id="4" name="Image 0" descr="D:\codee\code8\tool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96012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3401568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371600" y="4315968"/>
            <a:ext cx="9445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spc="200" kern="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 · Windows 桌面版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71600" y="4956048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桌面快捷方式,一键打开你的 AI 工作台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59893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@deepseek-ai/dsh v0.1.0-rc.6 · MIT License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4D6BFE"/>
          </a:solidFill>
          <a:ln/>
          <a:effectLst>
            <a:outerShdw sx="100000" sy="100000" kx="0" ky="0" algn="bl" rotWithShape="0" blurRad="101600" dist="25400" dir="5400000">
              <a:srgbClr val="4D6BFE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847088"/>
            <a:ext cx="658368" cy="65836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470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9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592" dirty="0"/>
          </a:p>
        </p:txBody>
      </p:sp>
      <p:sp>
        <p:nvSpPr>
          <p:cNvPr id="8" name="Text 6"/>
          <p:cNvSpPr/>
          <p:nvPr/>
        </p:nvSpPr>
        <p:spPr>
          <a:xfrm>
            <a:off x="3063240" y="181051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82496" y="186537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背景与动机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82496" y="239572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为什么需要桌面化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1847088"/>
            <a:ext cx="658368" cy="65836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18470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9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✨</a:t>
            </a:r>
            <a:endParaRPr lang="en-US" sz="2592" dirty="0"/>
          </a:p>
        </p:txBody>
      </p:sp>
      <p:sp>
        <p:nvSpPr>
          <p:cNvPr id="14" name="Text 12"/>
          <p:cNvSpPr/>
          <p:nvPr/>
        </p:nvSpPr>
        <p:spPr>
          <a:xfrm>
            <a:off x="6858000" y="181051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77256" y="186537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产品特性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77256" y="239572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六大核心亮点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5544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30768" y="1847088"/>
            <a:ext cx="658368" cy="65836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9" name="Text 17"/>
          <p:cNvSpPr/>
          <p:nvPr/>
        </p:nvSpPr>
        <p:spPr>
          <a:xfrm>
            <a:off x="8430768" y="18470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9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592" dirty="0"/>
          </a:p>
        </p:txBody>
      </p:sp>
      <p:sp>
        <p:nvSpPr>
          <p:cNvPr id="20" name="Text 18"/>
          <p:cNvSpPr/>
          <p:nvPr/>
        </p:nvSpPr>
        <p:spPr>
          <a:xfrm>
            <a:off x="10652760" y="181051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72016" y="186537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72016" y="239572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从双击到打开界面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4087368"/>
            <a:ext cx="658368" cy="65836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40873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9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592" dirty="0"/>
          </a:p>
        </p:txBody>
      </p:sp>
      <p:sp>
        <p:nvSpPr>
          <p:cNvPr id="26" name="Text 24"/>
          <p:cNvSpPr/>
          <p:nvPr/>
        </p:nvSpPr>
        <p:spPr>
          <a:xfrm>
            <a:off x="3063240" y="405079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682496" y="41056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快速开始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82496" y="46360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三步完成安装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43400" y="37947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36008" y="4087368"/>
            <a:ext cx="658368" cy="65836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31" name="Text 29"/>
          <p:cNvSpPr/>
          <p:nvPr/>
        </p:nvSpPr>
        <p:spPr>
          <a:xfrm>
            <a:off x="4636008" y="40873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9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592" dirty="0"/>
          </a:p>
        </p:txBody>
      </p:sp>
      <p:sp>
        <p:nvSpPr>
          <p:cNvPr id="32" name="Text 30"/>
          <p:cNvSpPr/>
          <p:nvPr/>
        </p:nvSpPr>
        <p:spPr>
          <a:xfrm>
            <a:off x="6858000" y="405079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477256" y="41056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数据与安全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477256" y="46360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本地优先的设计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38160" y="37947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430768" y="4087368"/>
            <a:ext cx="658368" cy="65836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30768" y="40873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9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🌟</a:t>
            </a:r>
            <a:endParaRPr lang="en-US" sz="2592" dirty="0"/>
          </a:p>
        </p:txBody>
      </p:sp>
      <p:sp>
        <p:nvSpPr>
          <p:cNvPr id="38" name="Text 36"/>
          <p:cNvSpPr/>
          <p:nvPr/>
        </p:nvSpPr>
        <p:spPr>
          <a:xfrm>
            <a:off x="10652760" y="405079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9272016" y="41056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开源与展望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272016" y="46360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与未来规划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4D6BFE"/>
          </a:solidFill>
          <a:ln/>
          <a:effectLst>
            <a:outerShdw sx="100000" sy="100000" kx="0" ky="0" algn="bl" rotWithShape="0" blurRad="101600" dist="25400" dir="5400000">
              <a:srgbClr val="4D6BFE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背景与动机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 是什么?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121408"/>
            <a:ext cx="4526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 (DSH) 是 DeepSeek 官方开源的 AI 智能体工作台: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运行在你自己电脑上的全栈 Agent 运行时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浏览器操作界面,对话式管理任务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技能(Skill)系统,可扩展工具集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多模型路由、沙箱文件系统、子代理编排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 100% 保存在本地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72200" y="12984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三个日常痛点,一个解法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48256"/>
            <a:ext cx="658368" cy="65836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482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9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⌨️</a:t>
            </a:r>
            <a:endParaRPr lang="en-US" sz="2592" dirty="0"/>
          </a:p>
        </p:txBody>
      </p:sp>
      <p:sp>
        <p:nvSpPr>
          <p:cNvPr id="12" name="Text 10"/>
          <p:cNvSpPr/>
          <p:nvPr/>
        </p:nvSpPr>
        <p:spPr>
          <a:xfrm>
            <a:off x="7315200" y="195681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每次都要敲命令启动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0" y="2377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双击桌面快捷方式,自动检测与拉起服务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3072384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3291840"/>
            <a:ext cx="658368" cy="65836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2918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9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🪟</a:t>
            </a:r>
            <a:endParaRPr lang="en-US" sz="2592" dirty="0"/>
          </a:p>
        </p:txBody>
      </p:sp>
      <p:sp>
        <p:nvSpPr>
          <p:cNvPr id="17" name="Text 15"/>
          <p:cNvSpPr/>
          <p:nvPr/>
        </p:nvSpPr>
        <p:spPr>
          <a:xfrm>
            <a:off x="7315200" y="3200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命令行窗口难看、易误关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15200" y="362102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无控制台窗口,服务静默常驻后台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315968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535424"/>
            <a:ext cx="658368" cy="65836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53542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9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❓</a:t>
            </a:r>
            <a:endParaRPr lang="en-US" sz="2592" dirty="0"/>
          </a:p>
        </p:txBody>
      </p:sp>
      <p:sp>
        <p:nvSpPr>
          <p:cNvPr id="22" name="Text 20"/>
          <p:cNvSpPr/>
          <p:nvPr/>
        </p:nvSpPr>
        <p:spPr>
          <a:xfrm>
            <a:off x="7315200" y="444398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不知道服务是否在运行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15200" y="48646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启动器先探测端口,复用已有实例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4D6BF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DeepSeek Harness 变成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"双击即用"的 Windows 桌面应用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B2545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41605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键启动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39496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桌面快捷方式,零命令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39319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B2545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41605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66160" y="5029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个入口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539496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原生窗口 / 浏览器回退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B2545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41605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5029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数据本地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539496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全部保存在 %USERPROFILE%\.dsh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39319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B2545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35440" y="41605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235440" y="5029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行命令日常使用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35440" y="539496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安装一次,日常双击即可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4D6BFE"/>
          </a:solidFill>
          <a:ln/>
          <a:effectLst>
            <a:outerShdw sx="100000" sy="100000" kx="0" ky="0" algn="bl" rotWithShape="0" blurRad="101600" dist="25400" dir="5400000">
              <a:srgbClr val="4D6BFE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六大核心特性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3060" dirty="0"/>
          </a:p>
        </p:txBody>
      </p:sp>
      <p:sp>
        <p:nvSpPr>
          <p:cNvPr id="8" name="Text 6"/>
          <p:cNvSpPr/>
          <p:nvPr/>
        </p:nvSpPr>
        <p:spPr>
          <a:xfrm>
            <a:off x="1828800" y="19842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检测服务状态 → 后台拉起 → 自动打开界面,全程静默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20240"/>
            <a:ext cx="777240" cy="77724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3060" dirty="0"/>
          </a:p>
        </p:txBody>
      </p:sp>
      <p:sp>
        <p:nvSpPr>
          <p:cNvPr id="13" name="Text 11"/>
          <p:cNvSpPr/>
          <p:nvPr/>
        </p:nvSpPr>
        <p:spPr>
          <a:xfrm>
            <a:off x="5623560" y="19842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智能探测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288036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探测 + __DSH_BOOT__ + API 三重确认,绝不误开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60020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1920240"/>
            <a:ext cx="777240" cy="77724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3060" dirty="0"/>
          </a:p>
        </p:txBody>
      </p:sp>
      <p:sp>
        <p:nvSpPr>
          <p:cNvPr id="18" name="Text 16"/>
          <p:cNvSpPr/>
          <p:nvPr/>
        </p:nvSpPr>
        <p:spPr>
          <a:xfrm>
            <a:off x="9418320" y="19842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原生桌面窗口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58200" y="288036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应用壳:独立窗口、无地址栏、窗口状态记忆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251960"/>
            <a:ext cx="777240" cy="77724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51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3060" dirty="0"/>
          </a:p>
        </p:txBody>
      </p:sp>
      <p:sp>
        <p:nvSpPr>
          <p:cNvPr id="23" name="Text 21"/>
          <p:cNvSpPr/>
          <p:nvPr/>
        </p:nvSpPr>
        <p:spPr>
          <a:xfrm>
            <a:off x="1828800" y="4315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常驻增强插件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68680" y="521208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文件视图 / 终端 / 外观 / 费用估算,随服务自动加载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39319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4251960"/>
            <a:ext cx="777240" cy="77724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251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3060" dirty="0"/>
          </a:p>
        </p:txBody>
      </p:sp>
      <p:sp>
        <p:nvSpPr>
          <p:cNvPr id="28" name="Text 26"/>
          <p:cNvSpPr/>
          <p:nvPr/>
        </p:nvSpPr>
        <p:spPr>
          <a:xfrm>
            <a:off x="5623560" y="4315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数据本地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63440" y="521208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/ 技能 / 配置保存在 .dsh,不依赖云端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8160" y="39319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4251960"/>
            <a:ext cx="777240" cy="77724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4251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3060" dirty="0"/>
          </a:p>
        </p:txBody>
      </p:sp>
      <p:sp>
        <p:nvSpPr>
          <p:cNvPr id="33" name="Text 31"/>
          <p:cNvSpPr/>
          <p:nvPr/>
        </p:nvSpPr>
        <p:spPr>
          <a:xfrm>
            <a:off x="9418320" y="4315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开源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458200" y="521208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MIT 协议,上游来自 DeepSeek 官方项目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4D6BFE"/>
          </a:solidFill>
          <a:ln/>
          <a:effectLst>
            <a:outerShdw sx="100000" sy="100000" kx="0" ky="0" algn="bl" rotWithShape="0" blurRad="101600" dist="25400" dir="5400000">
              <a:srgbClr val="4D6BFE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从双击到打开界面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3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🖱️</a:t>
            </a:r>
            <a:endParaRPr lang="en-US" sz="2232" dirty="0"/>
          </a:p>
        </p:txBody>
      </p:sp>
      <p:sp>
        <p:nvSpPr>
          <p:cNvPr id="8" name="Text 6"/>
          <p:cNvSpPr/>
          <p:nvPr/>
        </p:nvSpPr>
        <p:spPr>
          <a:xfrm>
            <a:off x="1481328" y="1664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双击快捷方式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DEEPHARNESS.lnk → electron.exe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63240" y="2029968"/>
            <a:ext cx="301752" cy="292608"/>
          </a:xfrm>
          <a:prstGeom prst="rightArrow">
            <a:avLst/>
          </a:prstGeom>
          <a:solidFill>
            <a:srgbClr val="C7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3364992" y="146304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9312" y="1691640"/>
            <a:ext cx="566928" cy="56692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3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232" dirty="0"/>
          </a:p>
        </p:txBody>
      </p:sp>
      <p:sp>
        <p:nvSpPr>
          <p:cNvPr id="14" name="Text 12"/>
          <p:cNvSpPr/>
          <p:nvPr/>
        </p:nvSpPr>
        <p:spPr>
          <a:xfrm>
            <a:off x="4297680" y="1664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单实例锁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39312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重复双击聚焦已有窗口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79592" y="2029968"/>
            <a:ext cx="301752" cy="292608"/>
          </a:xfrm>
          <a:prstGeom prst="rightArrow">
            <a:avLst/>
          </a:prstGeom>
          <a:solidFill>
            <a:srgbClr val="C7D4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1344" y="146304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5664" y="1691640"/>
            <a:ext cx="566928" cy="56692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55664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3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32" dirty="0"/>
          </a:p>
        </p:txBody>
      </p:sp>
      <p:sp>
        <p:nvSpPr>
          <p:cNvPr id="20" name="Text 18"/>
          <p:cNvSpPr/>
          <p:nvPr/>
        </p:nvSpPr>
        <p:spPr>
          <a:xfrm>
            <a:off x="7114032" y="1664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主进程逻辑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55664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desktop\main.js 探测 / 拉起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95944" y="2029968"/>
            <a:ext cx="301752" cy="292608"/>
          </a:xfrm>
          <a:prstGeom prst="rightArrow">
            <a:avLst/>
          </a:prstGeom>
          <a:solidFill>
            <a:srgbClr val="C7D4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997696" y="146304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72016" y="1691640"/>
            <a:ext cx="566928" cy="56692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25" name="Text 23"/>
          <p:cNvSpPr/>
          <p:nvPr/>
        </p:nvSpPr>
        <p:spPr>
          <a:xfrm>
            <a:off x="9272016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3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232" dirty="0"/>
          </a:p>
        </p:txBody>
      </p:sp>
      <p:sp>
        <p:nvSpPr>
          <p:cNvPr id="26" name="Text 24"/>
          <p:cNvSpPr/>
          <p:nvPr/>
        </p:nvSpPr>
        <p:spPr>
          <a:xfrm>
            <a:off x="9930384" y="1664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端口探测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72016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3080 已就绪?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98848" y="3200400"/>
            <a:ext cx="3200400" cy="1234440"/>
          </a:xfrm>
          <a:prstGeom prst="diamond">
            <a:avLst/>
          </a:prstGeom>
          <a:solidFill>
            <a:srgbClr val="FFF7E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8848" y="34930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DSH 服务?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98848" y="3877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端口探测 + 页面标记双重确认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34456" y="2834640"/>
            <a:ext cx="320040" cy="365760"/>
          </a:xfrm>
          <a:prstGeom prst="downArrow">
            <a:avLst/>
          </a:prstGeom>
          <a:solidFill>
            <a:srgbClr val="C7D4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89204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7240" y="5074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已在运行 → 直接复用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5532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不重复启动;工作区不一致时给出警告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92440" y="489204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321040" y="5074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未运行 → 后台启动服务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21040" y="5532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app\lib\bin.js web,等待就绪(≤120s)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0" y="3813048"/>
            <a:ext cx="2286000" cy="0"/>
          </a:xfrm>
          <a:prstGeom prst="line">
            <a:avLst/>
          </a:prstGeom>
          <a:noFill/>
          <a:ln w="25400">
            <a:solidFill>
              <a:srgbClr val="C7D4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99048" y="4434840"/>
            <a:ext cx="0" cy="457200"/>
          </a:xfrm>
          <a:prstGeom prst="line">
            <a:avLst/>
          </a:prstGeom>
          <a:noFill/>
          <a:ln w="25400">
            <a:solidFill>
              <a:srgbClr val="C7D4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9048" y="4892040"/>
            <a:ext cx="1993392" cy="0"/>
          </a:xfrm>
          <a:prstGeom prst="line">
            <a:avLst/>
          </a:prstGeom>
          <a:noFill/>
          <a:ln w="25400">
            <a:solidFill>
              <a:srgbClr val="C7D4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04288" y="4434840"/>
            <a:ext cx="0" cy="457200"/>
          </a:xfrm>
          <a:prstGeom prst="line">
            <a:avLst/>
          </a:prstGeom>
          <a:noFill/>
          <a:ln w="25400">
            <a:solidFill>
              <a:srgbClr val="C7D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2362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🪟 打开 Electron 原生窗口 → http://127.0.0.1:3080 → DeepSeek Harness 工作台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4D6BFE"/>
          </a:solidFill>
          <a:ln/>
          <a:effectLst>
            <a:outerShdw sx="100000" sy="100000" kx="0" ky="0" algn="bl" rotWithShape="0" blurRad="101600" dist="25400" dir="5400000">
              <a:srgbClr val="4D6BFE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四层架构设计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600200"/>
            <a:ext cx="640080" cy="64008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2520" dirty="0"/>
          </a:p>
        </p:txBody>
      </p:sp>
      <p:sp>
        <p:nvSpPr>
          <p:cNvPr id="8" name="Text 6"/>
          <p:cNvSpPr/>
          <p:nvPr/>
        </p:nvSpPr>
        <p:spPr>
          <a:xfrm>
            <a:off x="1691640" y="15636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94767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Electron 桌面壳 desktop\main.js(原生窗口)· 浏览器回退入口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69680" y="17373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用户每天接触的入口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34456" y="2423160"/>
            <a:ext cx="320040" cy="201168"/>
          </a:xfrm>
          <a:prstGeom prst="downArrow">
            <a:avLst/>
          </a:prstGeom>
          <a:solidFill>
            <a:srgbClr val="C7D4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624328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2807208"/>
            <a:ext cx="640080" cy="64008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28072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520" dirty="0"/>
          </a:p>
        </p:txBody>
      </p:sp>
      <p:sp>
        <p:nvSpPr>
          <p:cNvPr id="15" name="Text 13"/>
          <p:cNvSpPr/>
          <p:nvPr/>
        </p:nvSpPr>
        <p:spPr>
          <a:xfrm>
            <a:off x="1691640" y="27706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315468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单实例锁 + 端口/页面/API 探测 + 后台拉起 + 工作区检查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869680" y="29443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核心智能:探测与拉起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34456" y="3630168"/>
            <a:ext cx="320040" cy="201168"/>
          </a:xfrm>
          <a:prstGeom prst="downArrow">
            <a:avLst/>
          </a:prstGeom>
          <a:solidFill>
            <a:srgbClr val="C7D4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831336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014216"/>
            <a:ext cx="640080" cy="64008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0142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520" dirty="0"/>
          </a:p>
        </p:txBody>
      </p:sp>
      <p:sp>
        <p:nvSpPr>
          <p:cNvPr id="22" name="Text 20"/>
          <p:cNvSpPr/>
          <p:nvPr/>
        </p:nvSpPr>
        <p:spPr>
          <a:xfrm>
            <a:off x="1691640" y="3977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436168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app\lib\bin.js web · 仅绑定 127.0.0.1:3080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869680" y="415137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 运行时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34456" y="4837176"/>
            <a:ext cx="320040" cy="201168"/>
          </a:xfrm>
          <a:prstGeom prst="downArrow">
            <a:avLst/>
          </a:prstGeom>
          <a:solidFill>
            <a:srgbClr val="C7D4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038344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1248" y="5221224"/>
            <a:ext cx="640080" cy="64008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2212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2520" dirty="0"/>
          </a:p>
        </p:txBody>
      </p:sp>
      <p:sp>
        <p:nvSpPr>
          <p:cNvPr id="29" name="Text 27"/>
          <p:cNvSpPr/>
          <p:nvPr/>
        </p:nvSpPr>
        <p:spPr>
          <a:xfrm>
            <a:off x="1691640" y="51846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91640" y="556869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%USERPROFILE%\.dsh(配置 / 会话 / 技能 / 沙箱)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869680" y="535838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数据完全本地化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4D6BFE"/>
          </a:solidFill>
          <a:ln/>
          <a:effectLst>
            <a:outerShdw sx="100000" sy="100000" kx="0" ky="0" algn="bl" rotWithShape="0" blurRad="101600" dist="25400" dir="5400000">
              <a:srgbClr val="4D6BFE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两个使用入口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20240"/>
            <a:ext cx="731520" cy="73152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8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🪟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828800" y="243230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原生应用窗口(主入口)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独立窗口,无地址栏与标签页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任务栏独立图标,更像原生软件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窗口大小 / 位置自动记忆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1920240"/>
            <a:ext cx="731520" cy="73152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8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880" dirty="0"/>
          </a:p>
        </p:txBody>
      </p:sp>
      <p:sp>
        <p:nvSpPr>
          <p:cNvPr id="14" name="Text 12"/>
          <p:cNvSpPr/>
          <p:nvPr/>
        </p:nvSpPr>
        <p:spPr>
          <a:xfrm>
            <a:off x="754380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DEEPHARNESS(浏览器)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43800" y="243230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默认浏览器回退入口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29400" y="30632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在火狐 / Chrome / Edge 标签页中打开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适合多标签协作、远程访问场景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与原生窗口共用同一个服务与数据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两个入口并存,按场景自由切换;共同的服务、共同的数据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4D6BFE"/>
          </a:solidFill>
          <a:ln/>
          <a:effectLst>
            <a:outerShdw sx="100000" sy="100000" kx="0" ky="0" algn="bl" rotWithShape="0" blurRad="101600" dist="25400" dir="5400000">
              <a:srgbClr val="4D6BFE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三步完成安装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589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16733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获取项目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213055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https://github.com/NANTI34/DEEPHARNESS.git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33088" y="2697480"/>
            <a:ext cx="292608" cy="182880"/>
          </a:xfrm>
          <a:prstGeom prst="downArrow">
            <a:avLst/>
          </a:prstGeom>
          <a:solidFill>
            <a:srgbClr val="C7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880360"/>
            <a:ext cx="7589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154680"/>
            <a:ext cx="640080" cy="640080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30449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一键安装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350215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 -ExecutionPolicy Bypass -File .\install.ps1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33088" y="4069080"/>
            <a:ext cx="292608" cy="182880"/>
          </a:xfrm>
          <a:prstGeom prst="downArrow">
            <a:avLst/>
          </a:prstGeom>
          <a:solidFill>
            <a:srgbClr val="C7D4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251960"/>
            <a:ext cx="7589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4526280"/>
            <a:ext cx="640080" cy="640080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83080" y="44165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双击即用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83080" y="487375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桌面 DEEPHARNESS 快捷方式,自动完成启动与打开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0" y="1508760"/>
            <a:ext cx="3200400" cy="4114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3252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环境要求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732520" y="2377440"/>
            <a:ext cx="2606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10 / 11 (x64)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20+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浏览器仅回退入口需要(主入口无需)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首次安装需联网(npm 下载依赖)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4D6BFE"/>
          </a:solidFill>
          <a:ln/>
          <a:effectLst>
            <a:outerShdw sx="100000" sy="100000" kx="0" ky="0" algn="bl" rotWithShape="0" blurRad="101600" dist="25400" dir="5400000">
              <a:srgbClr val="4D6BFE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日常使用指南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658368" cy="65836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9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592" dirty="0"/>
          </a:p>
        </p:txBody>
      </p:sp>
      <p:sp>
        <p:nvSpPr>
          <p:cNvPr id="8" name="Text 6"/>
          <p:cNvSpPr/>
          <p:nvPr/>
        </p:nvSpPr>
        <p:spPr>
          <a:xfrm>
            <a:off x="173736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自定义端口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25146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51460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 -ExecutionPolicy Bypass -File .\launcher\DEEPHARNESS.ps1 -Port 8080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1874520"/>
            <a:ext cx="658368" cy="65836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874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9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📂</a:t>
            </a:r>
            <a:endParaRPr lang="en-US" sz="2592" dirty="0"/>
          </a:p>
        </p:txBody>
      </p:sp>
      <p:sp>
        <p:nvSpPr>
          <p:cNvPr id="14" name="Text 12"/>
          <p:cNvSpPr/>
          <p:nvPr/>
        </p:nvSpPr>
        <p:spPr>
          <a:xfrm>
            <a:off x="740664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指定工作目录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37960" y="25146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51460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 -ExecutionPolicy Bypass -File .\launcher\DEEPHARNESS.ps1 -Workspace D:\my-workspace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4160520"/>
            <a:ext cx="658368" cy="65836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160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9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592" dirty="0"/>
          </a:p>
        </p:txBody>
      </p:sp>
      <p:sp>
        <p:nvSpPr>
          <p:cNvPr id="20" name="Text 18"/>
          <p:cNvSpPr/>
          <p:nvPr/>
        </p:nvSpPr>
        <p:spPr>
          <a:xfrm>
            <a:off x="1737360" y="4206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查看日志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68680" y="48006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80060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logs\server.log(运行日志) · logs\server.err.log(错误日志)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4160520"/>
            <a:ext cx="658368" cy="658368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160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92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🩹</a:t>
            </a:r>
            <a:endParaRPr lang="en-US" sz="2592" dirty="0"/>
          </a:p>
        </p:txBody>
      </p:sp>
      <p:sp>
        <p:nvSpPr>
          <p:cNvPr id="26" name="Text 24"/>
          <p:cNvSpPr/>
          <p:nvPr/>
        </p:nvSpPr>
        <p:spPr>
          <a:xfrm>
            <a:off x="7406640" y="4206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故障处理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37960" y="48006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80060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启动失败自动弹窗展示错误尾部;端口冲突时换 -Port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4D6BFE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数据与安全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B2545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27632"/>
            <a:ext cx="640080" cy="64008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27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2520" dirty="0"/>
          </a:p>
        </p:txBody>
      </p:sp>
      <p:sp>
        <p:nvSpPr>
          <p:cNvPr id="7" name="Text 5"/>
          <p:cNvSpPr/>
          <p:nvPr/>
        </p:nvSpPr>
        <p:spPr>
          <a:xfrm>
            <a:off x="1737360" y="15819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100% 本地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198424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配置、会话、技能、沙箱文件全部保存在 %USERPROFILE%\.dsh,不上传任何服务器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B2545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62072"/>
            <a:ext cx="640080" cy="64008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62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520" dirty="0"/>
          </a:p>
        </p:txBody>
      </p:sp>
      <p:sp>
        <p:nvSpPr>
          <p:cNvPr id="12" name="Text 10"/>
          <p:cNvSpPr/>
          <p:nvPr/>
        </p:nvSpPr>
        <p:spPr>
          <a:xfrm>
            <a:off x="1737360" y="28163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仅本机可访问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321868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服务默认只绑定 127.0.0.1 回环地址,不对局域网 / 公网开放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B2545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096512"/>
            <a:ext cx="640080" cy="64008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965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🗑️</a:t>
            </a:r>
            <a:endParaRPr lang="en-US" sz="2520" dirty="0"/>
          </a:p>
        </p:txBody>
      </p:sp>
      <p:sp>
        <p:nvSpPr>
          <p:cNvPr id="17" name="Text 15"/>
          <p:cNvSpPr/>
          <p:nvPr/>
        </p:nvSpPr>
        <p:spPr>
          <a:xfrm>
            <a:off x="1737360" y="40507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删除即走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445312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卸载应用不影响数据;彻底清除只需删除 .dsh 目录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B2545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330952"/>
            <a:ext cx="640080" cy="64008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309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520" dirty="0"/>
          </a:p>
        </p:txBody>
      </p:sp>
      <p:sp>
        <p:nvSpPr>
          <p:cNvPr id="22" name="Text 20"/>
          <p:cNvSpPr/>
          <p:nvPr/>
        </p:nvSpPr>
        <p:spPr>
          <a:xfrm>
            <a:off x="1737360" y="52852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凭据本地托管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568756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API 凭据保存在本地配置中,由 DSH 自行管理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4D6BFE"/>
          </a:solidFill>
          <a:ln/>
          <a:effectLst>
            <a:outerShdw sx="100000" sy="100000" kx="0" ky="0" algn="bl" rotWithShape="0" blurRad="101600" dist="25400" dir="5400000">
              <a:srgbClr val="4D6BFE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开源与合规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492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20240"/>
            <a:ext cx="731520" cy="73152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8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商用 / 修改 / 分发 / 私人使用均免费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仅需保留版权声明与许可文本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完整文本见仓库 LICENSE 文件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3492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1920240"/>
            <a:ext cx="731520" cy="73152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8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🙏</a:t>
            </a:r>
            <a:endParaRPr lang="en-US" sz="2880" dirty="0"/>
          </a:p>
        </p:txBody>
      </p:sp>
      <p:sp>
        <p:nvSpPr>
          <p:cNvPr id="13" name="Text 11"/>
          <p:cNvSpPr/>
          <p:nvPr/>
        </p:nvSpPr>
        <p:spPr>
          <a:xfrm>
            <a:off x="754380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 DeepSeek 官方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上游项目: deepseek-ai/deepseek-harness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应用本体: @deepseek-ai/dsh v0.1.0-rc.6 (MIT)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本仓库: github.com/NANTI34/DEEPHARNESS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感谢开源社区与每一位使用者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本项目仅做 Windows 桌面化封装,不修改 DSH 本体逻辑,不收集任何数据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4D6BFE"/>
          </a:solidFill>
          <a:ln/>
          <a:effectLst>
            <a:outerShdw sx="100000" sy="100000" kx="0" ky="0" algn="bl" rotWithShape="0" blurRad="101600" dist="25400" dir="5400000">
              <a:srgbClr val="4D6BFE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未来规划(Roadmap)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659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打包为独立安装程序(NSIS / Inno Setup),免 Node.js 依赖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659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659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🪟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663440" y="3703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开机自启 + 系统托盘图标,一键启停与状态提示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19659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19659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8458200" y="3703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自动更新机制 · 多语言文档 · Windows 商店分发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欢迎提交 Issue / PR,一起把 DEEPHARNESS 做得更好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4D6BFE"/>
          </a:solidFill>
          <a:ln/>
          <a:effectLst>
            <a:outerShdw sx="100000" sy="100000" kx="0" ky="0" algn="bl" rotWithShape="0" blurRad="101600" dist="25400" dir="5400000">
              <a:srgbClr val="4D6BFE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工作台增强(常驻插件)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777240" cy="77724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3060" dirty="0"/>
          </a:p>
        </p:txBody>
      </p:sp>
      <p:sp>
        <p:nvSpPr>
          <p:cNvPr id="8" name="Text 6"/>
          <p:cNvSpPr/>
          <p:nvPr/>
        </p:nvSpPr>
        <p:spPr>
          <a:xfrm>
            <a:off x="1874520" y="1938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费用统计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DeepSeek 官方定价实时估算会话费用,自动适配 8.17 峰谷定价(高峰/空闲)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874520"/>
            <a:ext cx="777240" cy="77724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74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3060" dirty="0"/>
          </a:p>
        </p:txBody>
      </p:sp>
      <p:sp>
        <p:nvSpPr>
          <p:cNvPr id="13" name="Text 11"/>
          <p:cNvSpPr/>
          <p:nvPr/>
        </p:nvSpPr>
        <p:spPr>
          <a:xfrm>
            <a:off x="7543800" y="1938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外观定制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顶栏固定品牌色 · 字体风格切换 · 渐变背景预设 · 本地字体导入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160520"/>
            <a:ext cx="777240" cy="77724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60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</a:t>
            </a:r>
            <a:endParaRPr lang="en-US" sz="3060" dirty="0"/>
          </a:p>
        </p:txBody>
      </p:sp>
      <p:sp>
        <p:nvSpPr>
          <p:cNvPr id="18" name="Text 16"/>
          <p:cNvSpPr/>
          <p:nvPr/>
        </p:nvSpPr>
        <p:spPr>
          <a:xfrm>
            <a:off x="1874520" y="4224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文件视图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5029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工作区文件树,层级连线清晰;点击即看,就地编辑保存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F8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160520"/>
            <a:ext cx="777240" cy="77724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160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3060" dirty="0"/>
          </a:p>
        </p:txBody>
      </p:sp>
      <p:sp>
        <p:nvSpPr>
          <p:cNvPr id="23" name="Text 21"/>
          <p:cNvSpPr/>
          <p:nvPr/>
        </p:nvSpPr>
        <p:spPr>
          <a:xfrm>
            <a:off x="7543800" y="4224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终端面板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5029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内置命令执行器,工作区根目录下快速运行命令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install.ps1 自动安装为常驻插件,随服务启动自动加载 — 重启不丢,无需再次授权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5943600" cy="5943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5486400" cy="5486400"/>
          </a:xfrm>
          <a:prstGeom prst="ellipse">
            <a:avLst/>
          </a:prstGeom>
          <a:solidFill>
            <a:srgbClr val="4D6BFE">
              <a:alpha val="20000"/>
            </a:srgbClr>
          </a:solidFill>
          <a:ln/>
        </p:spPr>
      </p:sp>
      <p:pic>
        <p:nvPicPr>
          <p:cNvPr id="4" name="Image 0" descr="D:\codee\code8\tool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648" y="123444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324612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71600" y="42062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DEEPHARNESS · DeepSeek Harness Windows 桌面版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48920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9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https://github.com/NANTI34/DEEPHARNESS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57607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欢迎 Star ⭐ 与反馈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DEEPHARNESS - DeepSeek Harness Windows 桌面版</dc:title>
  <dc:subject>PptxGenJS Presentation</dc:subject>
  <dc:creator>NANTI34</dc:creator>
  <cp:lastModifiedBy>NANTI34</cp:lastModifiedBy>
  <cp:revision>1</cp:revision>
  <dcterms:created xsi:type="dcterms:W3CDTF">2026-08-15T09:43:04Z</dcterms:created>
  <dcterms:modified xsi:type="dcterms:W3CDTF">2026-08-15T09:43:04Z</dcterms:modified>
</cp:coreProperties>
</file>